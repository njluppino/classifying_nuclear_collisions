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9" r:id="rId3"/>
    <p:sldId id="257" r:id="rId4"/>
    <p:sldId id="268" r:id="rId5"/>
    <p:sldId id="258" r:id="rId6"/>
    <p:sldId id="259" r:id="rId7"/>
    <p:sldId id="260" r:id="rId8"/>
    <p:sldId id="264" r:id="rId9"/>
    <p:sldId id="265" r:id="rId10"/>
    <p:sldId id="261" r:id="rId11"/>
    <p:sldId id="262" r:id="rId12"/>
    <p:sldId id="263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89" autoAdjust="0"/>
    <p:restoredTop sz="94660"/>
  </p:normalViewPr>
  <p:slideViewPr>
    <p:cSldViewPr snapToGrid="0">
      <p:cViewPr varScale="1">
        <p:scale>
          <a:sx n="72" d="100"/>
          <a:sy n="72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3FDA-6376-4B85-9C60-FA286D250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5A1EB-CC2D-41E1-AADD-273888253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5C58C-0FAB-4CFA-9C5E-6499E13F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33C92-E34E-4485-A530-32201517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D7B49-3213-4749-A2F3-2D56F617F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61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F1C6-55CE-4F87-B9F6-65C1A7012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7F0C0-FEE8-4951-9376-46946B272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9D65-6916-446B-8E9C-D03B21D6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9AE66-A25D-4C03-9322-86E331B1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45B72-6334-4F22-887C-4ADC215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7854-AF80-499B-B073-98B104C6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E5D9-E7E8-4684-B12F-DAC20C4FF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0D606-8CA2-443C-8F4C-592BFF91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8465-5D82-47D7-A45D-D1CDC023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E876-C201-422F-806B-770BB7EF5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6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8117-CF01-4DB2-B97B-B2EE8FE27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343F-09C5-4B0F-B22E-03D760DAB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F497B-7306-4A30-B417-27ABF98B4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61473-8931-4BAC-973A-70729E111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FC81F-4DBF-47BB-B10B-0D8D358E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3BE2F-8817-4A33-9B07-518CD38B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6D5E-850D-4B33-8E6C-76CF663A3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CF985-0A61-4792-BC53-4FB1D8D27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3B54F-90BC-4B1A-9A07-F6C5656EB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B31E6-3E45-468E-924E-696D87022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D9873-BD6B-4891-9054-1B5EBDBE4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77C304-72C6-4EF8-8209-3C0467DC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95CB4-FC56-4F74-A756-54504A0C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B315E-E3BA-44A5-BFAF-AE64914CD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19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D171-2F95-449C-8677-DBB914C0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72699-CE9C-4089-8DDF-8EAC9D51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0E0DC-D9D3-4929-A004-C418BCB8A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93291-3A67-4ED5-9308-0F3ABDBB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6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2678B-63A6-4496-9E49-E09F6BF9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0D700-704D-4011-9BBF-4BAF847D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E7F2B-ABBB-420F-B603-08B55917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A8D7-7BF7-4412-B8EE-9866A599E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22F5-EE5F-47FF-A465-F88BC12E7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6D46F-52B1-41E6-A642-7AFE18676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4EF4D-043A-4F24-BFC9-64EEBD98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877DC-09AF-4172-BBE3-C284B0D3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3FA3D-17DB-4704-A96F-E96C402CA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3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5148-B3AA-41F0-93D5-E0ECC3387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FCB43-95C8-4FB3-9311-6EF051852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3F7D1-F88E-47D2-A0C3-EF0D2CB5B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B233D-C6A6-45FB-A90A-2C1CBCBB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6BAF3-5C77-4857-9F14-6CCE55FD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2E527-C64D-4EAC-A245-4002FDFE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13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191B-A83E-4E22-84DC-9A4FB24F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C5BBA-451B-4019-86A9-D02F16F8D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F1D6-FD8D-457D-B836-CC210E3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C487D-8425-4B18-AF54-B6A744B3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7998A-2716-4A38-8A33-D5C2DC4A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1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7778F8-127B-4200-B51B-D631C11D0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F09AE-5BE9-4B03-8B73-9480A2653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C11D3-AECD-4B62-8838-48B0B760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9BB19-182D-4535-B796-F9632B6C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C8E16-8252-4C7F-A49D-ECB1E5C6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3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D385D-DCC5-40DC-B690-779862BA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B3230-7D80-4D09-82C6-10E4CC382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D0BA2-EE63-4A18-875B-5D59C76AF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FAB0E-E04D-4139-9474-FF5B95B7CACB}" type="datetimeFigureOut">
              <a:rPr lang="en-US" smtClean="0"/>
              <a:t>12/2/2020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DFFB3-53C3-4879-BC67-6E2ECC46A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B56D-2C05-46D2-8D12-7AAD4861A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FCA24-0A9A-48B6-9F6A-4D2813C1B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7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8FAF-7ECC-418D-BA01-4C5338DC0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of Jets in nuclear collisions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0F8E9-62BA-4999-A708-D1A4C7ECD6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Nolan Luppino</a:t>
            </a:r>
          </a:p>
        </p:txBody>
      </p:sp>
    </p:spTree>
    <p:extLst>
      <p:ext uri="{BB962C8B-B14F-4D97-AF65-F5344CB8AC3E}">
        <p14:creationId xmlns:p14="http://schemas.microsoft.com/office/powerpoint/2010/main" val="303719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AD7B-688F-4213-9525-1A10A1DE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22C0-B032-42BF-AB0A-B39F4AFE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Collisions of atomic nuclei and subatomic particles sometimes produce a stream of high energy and momentum particles called jets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there are jets in a collision then equations need to account for that </a:t>
            </a:r>
          </a:p>
        </p:txBody>
      </p:sp>
    </p:spTree>
    <p:extLst>
      <p:ext uri="{BB962C8B-B14F-4D97-AF65-F5344CB8AC3E}">
        <p14:creationId xmlns:p14="http://schemas.microsoft.com/office/powerpoint/2010/main" val="769350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DDED-6B00-4B60-8909-3939852C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Goals/Questions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794E4-1F74-4A7B-9B4A-8B48C63C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Determine which method of normalization yields the best accuracy</a:t>
            </a:r>
          </a:p>
          <a:p>
            <a:endParaRPr lang="en-US" dirty="0"/>
          </a:p>
          <a:p>
            <a:r>
              <a:rPr lang="en-US" dirty="0"/>
              <a:t>Modify neural network parameters to improve accuracy</a:t>
            </a:r>
          </a:p>
          <a:p>
            <a:pPr lvl="1"/>
            <a:r>
              <a:rPr lang="en-US" dirty="0"/>
              <a:t>Does the number of hidden layers also have a diminishing returns effect?</a:t>
            </a:r>
          </a:p>
          <a:p>
            <a:pPr lvl="1"/>
            <a:r>
              <a:rPr lang="en-US" dirty="0"/>
              <a:t>Increase/decrease learning rate</a:t>
            </a:r>
          </a:p>
          <a:p>
            <a:pPr lvl="1"/>
            <a:r>
              <a:rPr lang="en-US" dirty="0"/>
              <a:t>Modify batch size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Determine where the cutoff point is for increasing the dataset size</a:t>
            </a:r>
          </a:p>
          <a:p>
            <a:pPr lvl="1"/>
            <a:r>
              <a:rPr lang="en-US" dirty="0"/>
              <a:t>Does dataset size have diminishing returns effect?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76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ED64-C2D4-48B3-B420-19C479CB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7A55-F91E-4961-A3A6-5344A67AA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loadtxt</a:t>
            </a:r>
            <a:r>
              <a:rPr lang="en-US" dirty="0"/>
              <a:t> and pandas to create </a:t>
            </a:r>
            <a:r>
              <a:rPr lang="en-US" dirty="0" err="1"/>
              <a:t>numpy</a:t>
            </a:r>
            <a:r>
              <a:rPr lang="en-US" dirty="0"/>
              <a:t> arrays from a given .csv file</a:t>
            </a:r>
          </a:p>
          <a:p>
            <a:r>
              <a:rPr lang="en-US" dirty="0"/>
              <a:t>can import </a:t>
            </a:r>
            <a:r>
              <a:rPr lang="en-US" dirty="0" err="1"/>
              <a:t>specifc</a:t>
            </a:r>
            <a:r>
              <a:rPr lang="en-US" dirty="0"/>
              <a:t> columns and skip a number of rows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0E76E-7BF7-4EEA-909D-CEE3C32DB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3" y="3429000"/>
            <a:ext cx="11966713" cy="296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15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42378-27FD-4B63-B29D-AFE906DB1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5BF83-E77E-4444-9C57-6B18D9AF2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Keeping the dataset size and neural network setup constant but change how the data is normalized</a:t>
            </a:r>
          </a:p>
          <a:p>
            <a:pPr lvl="1"/>
            <a:r>
              <a:rPr lang="en-US" dirty="0"/>
              <a:t>Using small dataset of 10,000 nuclear collisions. (70% training, 15% validation and testing)</a:t>
            </a:r>
          </a:p>
          <a:p>
            <a:pPr lvl="1"/>
            <a:r>
              <a:rPr lang="en-US" dirty="0"/>
              <a:t>Used XOR example code as a base.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13FBF-2233-49F5-99B1-8F2E7337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05" y="4001294"/>
            <a:ext cx="10144390" cy="189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2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760E-15BE-46E2-BAF9-69E05C3D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Normalization: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11EE1-64AF-4B23-98D8-07F6629887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No normalization </a:t>
                </a:r>
              </a:p>
              <a:p>
                <a:pPr lvl="1"/>
                <a:r>
                  <a:rPr lang="en-US" dirty="0"/>
                  <a:t>accuracy: 69%</a:t>
                </a:r>
              </a:p>
              <a:p>
                <a:r>
                  <a:rPr lang="en-US" dirty="0"/>
                  <a:t>Divide all values by the maximum [turn all data between 0 and 1]</a:t>
                </a:r>
              </a:p>
              <a:p>
                <a:pPr lvl="1"/>
                <a:r>
                  <a:rPr lang="en-US" dirty="0"/>
                  <a:t>Find maximum value then divide each datapoint by that value</a:t>
                </a:r>
              </a:p>
              <a:p>
                <a:pPr lvl="1"/>
                <a:r>
                  <a:rPr lang="en-US" dirty="0"/>
                  <a:t>Accuracy: 89%</a:t>
                </a:r>
              </a:p>
              <a:p>
                <a:r>
                  <a:rPr lang="en-US" dirty="0"/>
                  <a:t>Z-score method:</a:t>
                </a:r>
              </a:p>
              <a:p>
                <a:pPr lvl="1"/>
                <a:r>
                  <a:rPr lang="en-US" dirty="0"/>
                  <a:t>X is the datapoint,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the mean,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is the standard deviation</a:t>
                </a:r>
              </a:p>
              <a:p>
                <a:pPr marL="45720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Accuracy: 91%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11EE1-64AF-4B23-98D8-07F6629887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229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B0D1-C7A2-4670-9E84-17EB906E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Normalization: methods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2004A-983E-4CF2-9C5A-1B8992C1BD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Center of mass energy column have all the same numbers (2760).</a:t>
                </a:r>
              </a:p>
              <a:p>
                <a:pPr lvl="1"/>
                <a:r>
                  <a:rPr lang="en-US" dirty="0"/>
                  <a:t>Due to each collision keeping the same two atomic nuclei</a:t>
                </a:r>
              </a:p>
              <a:p>
                <a:r>
                  <a:rPr lang="en-US" dirty="0"/>
                  <a:t>Makes the z-score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Removing that column from the dataset improved z-score accuracy to 94%</a:t>
                </a:r>
              </a:p>
              <a:p>
                <a:r>
                  <a:rPr lang="en-US" b="0" dirty="0"/>
                  <a:t>Also makes the code cleaner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32004A-983E-4CF2-9C5A-1B8992C1BD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426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3465-C70C-4822-BDDA-21AA902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A51B1-0BBB-42A3-B3A4-C3116637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Number of hidden neurons:</a:t>
            </a:r>
          </a:p>
          <a:p>
            <a:pPr lvl="1"/>
            <a:r>
              <a:rPr lang="en-US" dirty="0"/>
              <a:t>Tested at 32, 64, and 128</a:t>
            </a:r>
          </a:p>
          <a:p>
            <a:pPr lvl="1"/>
            <a:r>
              <a:rPr lang="en-US" dirty="0"/>
              <a:t>Increasing network from 32 to 64 improved accuracy about 1%</a:t>
            </a:r>
          </a:p>
          <a:p>
            <a:pPr lvl="2"/>
            <a:r>
              <a:rPr lang="en-US" dirty="0"/>
              <a:t>No major change (~0.01% increase) from 64 to 128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Activation functions:</a:t>
            </a:r>
          </a:p>
          <a:p>
            <a:pPr lvl="1"/>
            <a:r>
              <a:rPr lang="en-US" dirty="0"/>
              <a:t>Tested with </a:t>
            </a:r>
            <a:r>
              <a:rPr lang="en-US" dirty="0" err="1"/>
              <a:t>ReLU</a:t>
            </a:r>
            <a:r>
              <a:rPr lang="en-US" dirty="0"/>
              <a:t>, tanh, sigmoid and using them in combinations</a:t>
            </a:r>
          </a:p>
          <a:p>
            <a:pPr lvl="2"/>
            <a:r>
              <a:rPr lang="en-US" dirty="0"/>
              <a:t>Using tanh then sigmoid gives the best accuracy</a:t>
            </a:r>
          </a:p>
          <a:p>
            <a:r>
              <a:rPr lang="en-US" dirty="0"/>
              <a:t>Learning rate:</a:t>
            </a:r>
          </a:p>
          <a:p>
            <a:pPr lvl="1"/>
            <a:r>
              <a:rPr lang="en-US" dirty="0"/>
              <a:t>Increased and decreased learning rate by 0.01 and 0.05</a:t>
            </a:r>
          </a:p>
          <a:p>
            <a:pPr lvl="2"/>
            <a:r>
              <a:rPr lang="en-US" dirty="0"/>
              <a:t>0.2 learning rate still gave the best accuracy </a:t>
            </a:r>
          </a:p>
        </p:txBody>
      </p:sp>
    </p:spTree>
    <p:extLst>
      <p:ext uri="{BB962C8B-B14F-4D97-AF65-F5344CB8AC3E}">
        <p14:creationId xmlns:p14="http://schemas.microsoft.com/office/powerpoint/2010/main" val="340260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EEFB-7B6B-4BA0-80BC-8B581125F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79B4C-904D-4AE9-BA97-97C2D6461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5096"/>
            <a:ext cx="10517705" cy="20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7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DDC9-F6EF-4D22-91CD-6ADAC6F8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F5D1-28FD-4147-9C6C-AA9D4887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two larger data sets:</a:t>
            </a:r>
          </a:p>
          <a:p>
            <a:pPr lvl="1"/>
            <a:r>
              <a:rPr lang="en-US" dirty="0"/>
              <a:t>3 million lead-lead nuclei collisions</a:t>
            </a:r>
          </a:p>
          <a:p>
            <a:pPr lvl="1"/>
            <a:r>
              <a:rPr lang="en-US" dirty="0"/>
              <a:t>30 million proton-proton collisions</a:t>
            </a:r>
          </a:p>
          <a:p>
            <a:r>
              <a:rPr lang="en-US" dirty="0"/>
              <a:t>Lead-lead collisions:</a:t>
            </a:r>
          </a:p>
          <a:p>
            <a:pPr lvl="1"/>
            <a:r>
              <a:rPr lang="en-US" dirty="0"/>
              <a:t>tested with 1 million, 2 million, 3 million</a:t>
            </a:r>
          </a:p>
          <a:p>
            <a:pPr lvl="2"/>
            <a:r>
              <a:rPr lang="en-US" dirty="0"/>
              <a:t>accuracy increased to 96% from 1-2 million events</a:t>
            </a:r>
          </a:p>
          <a:p>
            <a:pPr lvl="2"/>
            <a:r>
              <a:rPr lang="en-US" dirty="0"/>
              <a:t>No change when increasing size from 2-3 million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42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C623-355D-49D0-BF8E-9871218F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Data Sets: proton-proton collisions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9471-2510-4040-9968-A0809889C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Tested at 10, 20, and 30 million</a:t>
            </a:r>
          </a:p>
          <a:p>
            <a:pPr lvl="1"/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crashes when trying to read through 480 million data points (30 million rows X 16 columns)</a:t>
            </a:r>
          </a:p>
          <a:p>
            <a:pPr lvl="1"/>
            <a:r>
              <a:rPr lang="en-US" dirty="0"/>
              <a:t>At 20 million </a:t>
            </a:r>
            <a:r>
              <a:rPr lang="en-US" dirty="0" err="1"/>
              <a:t>model.evaluate</a:t>
            </a:r>
            <a:r>
              <a:rPr lang="en-US" dirty="0"/>
              <a:t>() gives 0.01%</a:t>
            </a:r>
          </a:p>
          <a:p>
            <a:pPr lvl="2"/>
            <a:r>
              <a:rPr lang="en-US" dirty="0"/>
              <a:t>Accuracy and loss graphs also flatline</a:t>
            </a:r>
          </a:p>
          <a:p>
            <a:pPr lvl="1"/>
            <a:r>
              <a:rPr lang="en-US" dirty="0"/>
              <a:t>Same behavior at 10 million</a:t>
            </a:r>
          </a:p>
        </p:txBody>
      </p:sp>
    </p:spTree>
    <p:extLst>
      <p:ext uri="{BB962C8B-B14F-4D97-AF65-F5344CB8AC3E}">
        <p14:creationId xmlns:p14="http://schemas.microsoft.com/office/powerpoint/2010/main" val="2845547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D5F5-CC74-443C-8822-7FD8D27F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Data Sets: No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669B-4749-42AF-BDAA-B16CE8C6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10 million row dataset without normalizing gives 99.99%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FF084F-0FA5-4075-8120-93D705CF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299" y="3163508"/>
            <a:ext cx="7241402" cy="154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9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1A14-28CD-48E9-AF90-DBA08387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work/Questions that remain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D665-CD3C-4D20-9C5B-707F3FAB9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no normalization have more accuracy than z-score on larger data sets?</a:t>
            </a:r>
          </a:p>
          <a:p>
            <a:pPr lvl="1"/>
            <a:r>
              <a:rPr lang="en-US" dirty="0"/>
              <a:t>Could the way z-score is calculated have a negative effect and compounds when the dataset size increases?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Could the difference in training on lead-lead vs. proton-proton have an effect?</a:t>
            </a:r>
          </a:p>
        </p:txBody>
      </p:sp>
    </p:spTree>
    <p:extLst>
      <p:ext uri="{BB962C8B-B14F-4D97-AF65-F5344CB8AC3E}">
        <p14:creationId xmlns:p14="http://schemas.microsoft.com/office/powerpoint/2010/main" val="3369944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BB61-F2CB-4274-A530-E19FA13A9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9822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556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Classification of Jets in nuclear collisions</vt:lpstr>
      <vt:lpstr>Background</vt:lpstr>
      <vt:lpstr>Initial Goals/Questions</vt:lpstr>
      <vt:lpstr>Loading data</vt:lpstr>
      <vt:lpstr>Normalization: Overview</vt:lpstr>
      <vt:lpstr>Normalization: Methods</vt:lpstr>
      <vt:lpstr>Normalization: methods (cont.)</vt:lpstr>
      <vt:lpstr>Network parameters</vt:lpstr>
      <vt:lpstr>Final Network</vt:lpstr>
      <vt:lpstr>Larger Data Sets</vt:lpstr>
      <vt:lpstr>Larger Data Sets: proton-proton collisions</vt:lpstr>
      <vt:lpstr>Larger Data Sets: No normalization</vt:lpstr>
      <vt:lpstr>Future work/Questions that remain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Jets or no Jets?</dc:title>
  <dc:creator>Nolan Luppino</dc:creator>
  <cp:lastModifiedBy>Nolan Luppino</cp:lastModifiedBy>
  <cp:revision>17</cp:revision>
  <dcterms:created xsi:type="dcterms:W3CDTF">2020-12-01T23:17:43Z</dcterms:created>
  <dcterms:modified xsi:type="dcterms:W3CDTF">2020-12-03T02:13:33Z</dcterms:modified>
</cp:coreProperties>
</file>